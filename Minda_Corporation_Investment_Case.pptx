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94360"/>
            <a:ext cx="2194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EQUITY RESEARCH / INDIA AUTO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841248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800" b="1" i="0">
                <a:solidFill>
                  <a:srgbClr val="252B2A"/>
                </a:solidFill>
                <a:latin typeface="Aptos Display"/>
              </a:rPr>
              <a:t>Minda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804672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0" i="0">
                <a:solidFill>
                  <a:srgbClr val="646963"/>
                </a:solidFill>
                <a:latin typeface="Aptos Display"/>
              </a:rPr>
              <a:t>A quality franchise, but the price already reflects much of the recovery.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794760"/>
            <a:ext cx="3749039" cy="1051560"/>
          </a:xfrm>
          <a:prstGeom prst="rect">
            <a:avLst/>
          </a:prstGeom>
          <a:solidFill>
            <a:srgbClr val="2D5B48"/>
          </a:solidFill>
          <a:ln w="10160">
            <a:solidFill>
              <a:srgbClr val="2D5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005072"/>
            <a:ext cx="32461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D5E3D8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79392"/>
            <a:ext cx="3246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 Display"/>
              </a:rPr>
              <a:t>HOLD / ACCUMULATE ON DIPS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525780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46963"/>
                </a:solidFill>
                <a:latin typeface="Aptos"/>
              </a:rPr>
              <a:t>Prepared for investment committee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559552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46963"/>
                </a:solidFill>
                <a:latin typeface="Aptos"/>
              </a:rPr>
              <a:t>9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Investment view for discussion only. Not investment advice.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01 /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52B2A"/>
                </a:solidFill>
                <a:latin typeface="Aptos Display"/>
              </a:rPr>
              <a:t>A diversified auto-component platform with wiring at its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34440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6963"/>
                </a:solidFill>
                <a:latin typeface="Aptos"/>
              </a:rPr>
              <a:t>Minda earns from content per vehicle, not from vehicle volumes alone.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11000232" cy="13716"/>
          </a:xfrm>
          <a:prstGeom prst="rect">
            <a:avLst/>
          </a:prstGeom>
          <a:solidFill>
            <a:srgbClr val="D2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93392"/>
            <a:ext cx="2926080" cy="3520440"/>
          </a:xfrm>
          <a:prstGeom prst="rect">
            <a:avLst/>
          </a:prstGeom>
          <a:solidFill>
            <a:srgbClr val="2D5B48"/>
          </a:solidFill>
          <a:ln w="10160">
            <a:solidFill>
              <a:srgbClr val="2D5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67712"/>
            <a:ext cx="23774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5E3D8"/>
                </a:solidFill>
                <a:latin typeface="Aptos"/>
              </a:rPr>
              <a:t>FY25 REVENUE 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228600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Aptos Display"/>
              </a:rPr>
              <a:t>₹4,700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383280"/>
            <a:ext cx="21945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D5E3D8"/>
                </a:solidFill>
                <a:latin typeface="Aptos"/>
              </a:rPr>
              <a:t>approx. consolidated revenue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39"/>
            <a:ext cx="214884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ptos"/>
              </a:rPr>
              <a:t>Wiring harness 32%
Interior &amp; electronics 28%
Switches / lighting / others 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029968"/>
            <a:ext cx="32461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HOW THE MODEL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468880"/>
            <a:ext cx="3200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D5B48"/>
                </a:solidFill>
                <a:latin typeface="Aptos Display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468880"/>
            <a:ext cx="25603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52B2A"/>
                </a:solidFill>
                <a:latin typeface="Aptos"/>
              </a:rPr>
              <a:t>Win platform 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43200"/>
            <a:ext cx="26060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6963"/>
                </a:solidFill>
                <a:latin typeface="Aptos"/>
              </a:rPr>
              <a:t>Design-in with OEMs creates sticky, multi-year programs.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429000"/>
            <a:ext cx="3200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D5B48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429000"/>
            <a:ext cx="25603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52B2A"/>
                </a:solidFill>
                <a:latin typeface="Aptos"/>
              </a:rPr>
              <a:t>Scale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703320"/>
            <a:ext cx="26060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6963"/>
                </a:solidFill>
                <a:latin typeface="Aptos"/>
              </a:rPr>
              <a:t>Localization and volume improve purchasing leverage and utilization.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4389120"/>
            <a:ext cx="3200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D5B48"/>
                </a:solidFill>
                <a:latin typeface="Aptos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89120"/>
            <a:ext cx="25603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52B2A"/>
                </a:solidFill>
                <a:latin typeface="Aptos"/>
              </a:rPr>
              <a:t>Compound adjacencies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4663440"/>
            <a:ext cx="26060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6963"/>
                </a:solidFill>
                <a:latin typeface="Aptos"/>
              </a:rPr>
              <a:t>Electronics, sensors and EV content raise value per vehicle.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1993392"/>
            <a:ext cx="4069080" cy="3520440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2267712"/>
            <a:ext cx="33832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FINANCIAL SHAPE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633472"/>
            <a:ext cx="1691640" cy="384048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1272" y="2670048"/>
            <a:ext cx="154533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2633472"/>
            <a:ext cx="960120" cy="384048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82912" y="2670048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FY23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69880" y="2633472"/>
            <a:ext cx="960120" cy="384048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43032" y="2670048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FY25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18120" y="3017520"/>
            <a:ext cx="169164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91272" y="3054096"/>
            <a:ext cx="154533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Revenue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9760" y="3017520"/>
            <a:ext cx="9601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2912" y="3054096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₹3,800 cr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69880" y="3017520"/>
            <a:ext cx="9601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43032" y="3054096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₹4,700 cr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3401568"/>
            <a:ext cx="1691640" cy="384048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91272" y="3438144"/>
            <a:ext cx="154533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EBITDA margin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60" y="3401568"/>
            <a:ext cx="960120" cy="384048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82912" y="3438144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10.2%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69880" y="3401568"/>
            <a:ext cx="960120" cy="384048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43032" y="3438144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11.1%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18120" y="3785615"/>
            <a:ext cx="169164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91272" y="3822191"/>
            <a:ext cx="154533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ROCE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09760" y="3785615"/>
            <a:ext cx="9601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82912" y="3822191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15.6%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69880" y="3785615"/>
            <a:ext cx="9601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43032" y="3822191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17.8%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4169663"/>
            <a:ext cx="1691640" cy="384048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91272" y="4206240"/>
            <a:ext cx="154533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Net debt / EBITDA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760" y="4169663"/>
            <a:ext cx="960120" cy="384048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82912" y="4206240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1.6x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469880" y="4169663"/>
            <a:ext cx="960120" cy="384048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43032" y="4206240"/>
            <a:ext cx="813816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1.4x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8120" y="4617720"/>
            <a:ext cx="324612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52B2A"/>
                </a:solidFill>
                <a:latin typeface="Aptos"/>
              </a:rPr>
              <a:t>The positives are steady growth and operating leverage. The constraint is that returns remain below a premium industrial benchmark.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Data as of FY25 / latest company disclosures; estimates are analyst calculations.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02 / INDUSTRY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52B2A"/>
                </a:solidFill>
                <a:latin typeface="Aptos Display"/>
              </a:rPr>
              <a:t>The runway is attractive; competition keeps the economics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34440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6963"/>
                </a:solidFill>
                <a:latin typeface="Aptos"/>
              </a:rPr>
              <a:t>Indian auto-components are moving from mechanical content to electronics-heavy systems.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11000232" cy="13716"/>
          </a:xfrm>
          <a:prstGeom prst="rect">
            <a:avLst/>
          </a:prstGeom>
          <a:solidFill>
            <a:srgbClr val="D2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93392"/>
            <a:ext cx="4800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WHAT IS CHANGING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468880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395728"/>
            <a:ext cx="45720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52B2A"/>
                </a:solidFill>
                <a:latin typeface="Aptos"/>
              </a:rPr>
              <a:t>Premiumisation increases content per vehicle.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3044952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971800"/>
            <a:ext cx="45720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52B2A"/>
                </a:solidFill>
                <a:latin typeface="Aptos"/>
              </a:rPr>
              <a:t>EVs remove some legacy parts but add sensors, electronics and harness complexity.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621024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547872"/>
            <a:ext cx="45720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52B2A"/>
                </a:solidFill>
                <a:latin typeface="Aptos"/>
              </a:rPr>
              <a:t>OEM localisation and supply-chain de-risking favour scaled Indian vendors.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4197096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23944"/>
            <a:ext cx="45720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52B2A"/>
                </a:solidFill>
                <a:latin typeface="Aptos"/>
              </a:rPr>
              <a:t>Passenger vehicles and 2W exports broaden the addressable market.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97880" y="2011680"/>
            <a:ext cx="5650992" cy="3383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226771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INDUSTRY SIGNALS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761488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52B2A"/>
                </a:solidFill>
                <a:latin typeface="Aptos"/>
              </a:rPr>
              <a:t>Content / vehicle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2788920"/>
            <a:ext cx="2377440" cy="164592"/>
          </a:xfrm>
          <a:prstGeom prst="rect">
            <a:avLst/>
          </a:prstGeom>
          <a:solidFill>
            <a:srgbClr val="E7E6DD"/>
          </a:solidFill>
          <a:ln w="10160">
            <a:solidFill>
              <a:srgbClr val="E7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49640" y="2788920"/>
            <a:ext cx="2011680" cy="164592"/>
          </a:xfrm>
          <a:prstGeom prst="rect">
            <a:avLst/>
          </a:prstGeom>
          <a:solidFill>
            <a:srgbClr val="2D5B48"/>
          </a:solidFill>
          <a:ln w="10160">
            <a:solidFill>
              <a:srgbClr val="2D5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0" y="2743200"/>
            <a:ext cx="3657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2D5B48"/>
                </a:solidFill>
                <a:latin typeface="Aptos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328416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52B2A"/>
                </a:solidFill>
                <a:latin typeface="Aptos"/>
              </a:rPr>
              <a:t>Localisation tailwind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3355848"/>
            <a:ext cx="2377440" cy="164592"/>
          </a:xfrm>
          <a:prstGeom prst="rect">
            <a:avLst/>
          </a:prstGeom>
          <a:solidFill>
            <a:srgbClr val="E7E6DD"/>
          </a:solidFill>
          <a:ln w="10160">
            <a:solidFill>
              <a:srgbClr val="E7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49640" y="3355848"/>
            <a:ext cx="2011680" cy="164592"/>
          </a:xfrm>
          <a:prstGeom prst="rect">
            <a:avLst/>
          </a:prstGeom>
          <a:solidFill>
            <a:srgbClr val="2D5B48"/>
          </a:solidFill>
          <a:ln w="10160">
            <a:solidFill>
              <a:srgbClr val="2D5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0" y="3310128"/>
            <a:ext cx="3657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2D5B48"/>
                </a:solidFill>
                <a:latin typeface="Aptos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895344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52B2A"/>
                </a:solidFill>
                <a:latin typeface="Aptos"/>
              </a:rPr>
              <a:t>Pricing power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49640" y="3922776"/>
            <a:ext cx="2377440" cy="164592"/>
          </a:xfrm>
          <a:prstGeom prst="rect">
            <a:avLst/>
          </a:prstGeom>
          <a:solidFill>
            <a:srgbClr val="E7E6DD"/>
          </a:solidFill>
          <a:ln w="10160">
            <a:solidFill>
              <a:srgbClr val="E7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3922776"/>
            <a:ext cx="1325880" cy="164592"/>
          </a:xfrm>
          <a:prstGeom prst="rect">
            <a:avLst/>
          </a:prstGeom>
          <a:solidFill>
            <a:srgbClr val="BE913E"/>
          </a:solidFill>
          <a:ln w="10160">
            <a:solidFill>
              <a:srgbClr val="BE9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0" y="3877056"/>
            <a:ext cx="3657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BE913E"/>
                </a:solidFill>
                <a:latin typeface="Aptos"/>
              </a:rPr>
              <a:t>Medium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4462272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52B2A"/>
                </a:solidFill>
                <a:latin typeface="Aptos"/>
              </a:rPr>
              <a:t>Competition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4489704"/>
            <a:ext cx="2377440" cy="164592"/>
          </a:xfrm>
          <a:prstGeom prst="rect">
            <a:avLst/>
          </a:prstGeom>
          <a:solidFill>
            <a:srgbClr val="E7E6DD"/>
          </a:solidFill>
          <a:ln w="10160">
            <a:solidFill>
              <a:srgbClr val="E7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49640" y="4489704"/>
            <a:ext cx="2011680" cy="164592"/>
          </a:xfrm>
          <a:prstGeom prst="rect">
            <a:avLst/>
          </a:prstGeom>
          <a:solidFill>
            <a:srgbClr val="A65438"/>
          </a:solidFill>
          <a:ln w="10160">
            <a:solidFill>
              <a:srgbClr val="A65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0" y="4443984"/>
            <a:ext cx="3657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A65438"/>
                </a:solidFill>
                <a:latin typeface="Aptos"/>
              </a:rP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846320"/>
            <a:ext cx="5074920" cy="347472"/>
          </a:xfrm>
          <a:prstGeom prst="rect">
            <a:avLst/>
          </a:prstGeom>
          <a:solidFill>
            <a:srgbClr val="EFDACF"/>
          </a:solidFill>
          <a:ln w="10160">
            <a:solidFill>
              <a:srgbClr val="EF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4919472"/>
            <a:ext cx="47548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A65438"/>
                </a:solidFill>
                <a:latin typeface="Aptos"/>
              </a:rPr>
              <a:t>Bottom line: secular growth does not guarantee superior returns.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Data as of FY25 / latest company disclosures; estimates are analyst calculations.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03 / RELATIVE 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52B2A"/>
                </a:solidFill>
                <a:latin typeface="Aptos Display"/>
              </a:rPr>
              <a:t>MSUMI closes the most important gap in the peer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34440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6963"/>
                </a:solidFill>
                <a:latin typeface="Aptos"/>
              </a:rPr>
              <a:t>Peer median is used as the reference line; round-number cutoffs are avoided.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11000232" cy="13716"/>
          </a:xfrm>
          <a:prstGeom prst="rect">
            <a:avLst/>
          </a:prstGeom>
          <a:solidFill>
            <a:srgbClr val="D2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132588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002536"/>
            <a:ext cx="11795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Company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4248" y="1965960"/>
            <a:ext cx="288036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2002536"/>
            <a:ext cx="273405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Why it belongs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4608" y="1965960"/>
            <a:ext cx="105156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002536"/>
            <a:ext cx="905255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Rev growth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6168" y="1965960"/>
            <a:ext cx="114300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2002536"/>
            <a:ext cx="9966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EBITDA mgn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59168" y="1965960"/>
            <a:ext cx="91440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2002536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ROCE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8" y="1965960"/>
            <a:ext cx="68580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002536"/>
            <a:ext cx="5394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P/E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404872"/>
            <a:ext cx="132588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19" y="2441448"/>
            <a:ext cx="11795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Minda Corp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84248" y="2404872"/>
            <a:ext cx="288036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2441448"/>
            <a:ext cx="273405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Target: diversified auto-electricals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2404872"/>
            <a:ext cx="105156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2441448"/>
            <a:ext cx="905255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16168" y="2404872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89320" y="2441448"/>
            <a:ext cx="9966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11.1%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59168" y="2404872"/>
            <a:ext cx="9144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2441448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17.8%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3568" y="2404872"/>
            <a:ext cx="6858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2441448"/>
            <a:ext cx="5394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34x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2843784"/>
            <a:ext cx="132588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19" y="2880360"/>
            <a:ext cx="11795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MSUMI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4248" y="2843784"/>
            <a:ext cx="288036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2880360"/>
            <a:ext cx="273405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Pure-play wiring harness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64608" y="2843784"/>
            <a:ext cx="105156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0" y="2880360"/>
            <a:ext cx="905255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16168" y="2843784"/>
            <a:ext cx="114300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20" y="2880360"/>
            <a:ext cx="9966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13.2%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59168" y="2843784"/>
            <a:ext cx="91440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0" y="2880360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23.5%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73568" y="2843784"/>
            <a:ext cx="68580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0" y="2880360"/>
            <a:ext cx="5394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42x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282696"/>
            <a:ext cx="132588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19" y="3319272"/>
            <a:ext cx="11795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Lumax Ind.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4248" y="3282696"/>
            <a:ext cx="288036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3319272"/>
            <a:ext cx="273405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Lighting / mechatronics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64608" y="3282696"/>
            <a:ext cx="105156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319272"/>
            <a:ext cx="905255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9%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16168" y="3282696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89320" y="3319272"/>
            <a:ext cx="9966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10.5%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3282696"/>
            <a:ext cx="9144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0" y="3319272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18.9%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73568" y="3282696"/>
            <a:ext cx="6858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46720" y="3319272"/>
            <a:ext cx="5394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31x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3721608"/>
            <a:ext cx="132588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19" y="3758184"/>
            <a:ext cx="11795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Fiem Ind.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84248" y="3721608"/>
            <a:ext cx="288036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3758184"/>
            <a:ext cx="273405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Lighting and signalling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64608" y="3721608"/>
            <a:ext cx="105156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37760" y="3758184"/>
            <a:ext cx="905255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11%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16168" y="3721608"/>
            <a:ext cx="114300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3758184"/>
            <a:ext cx="9966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12.1%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59168" y="3721608"/>
            <a:ext cx="91440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0" y="3758184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20.8%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73568" y="3721608"/>
            <a:ext cx="68580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46720" y="3758184"/>
            <a:ext cx="5394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27x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4160520"/>
            <a:ext cx="132588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1519" y="4197096"/>
            <a:ext cx="11795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Peer median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84248" y="4160520"/>
            <a:ext cx="288036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7400" y="4197096"/>
            <a:ext cx="273405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Reference point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864608" y="4160520"/>
            <a:ext cx="105156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37760" y="4197096"/>
            <a:ext cx="905255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11%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16168" y="4160520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89320" y="4197096"/>
            <a:ext cx="9966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12.1%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59168" y="4160520"/>
            <a:ext cx="9144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32320" y="4197096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20.8%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973568" y="4160520"/>
            <a:ext cx="6858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0" y="4197096"/>
            <a:ext cx="5394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252B2A"/>
                </a:solidFill>
                <a:latin typeface="Aptos"/>
              </a:rPr>
              <a:t>31x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4983480"/>
            <a:ext cx="672084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52B2A"/>
                </a:solidFill>
                <a:latin typeface="Aptos"/>
              </a:rPr>
              <a:t>Interpretation: Minda is not the cheapest on earnings, while its return profile sits below the peer median. MSUMI deserves a premium for purity, but also sets a higher bar for execution.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818120" y="4572000"/>
            <a:ext cx="3611880" cy="960120"/>
          </a:xfrm>
          <a:prstGeom prst="rect">
            <a:avLst/>
          </a:prstGeom>
          <a:solidFill>
            <a:srgbClr val="D5E3D8"/>
          </a:solidFill>
          <a:ln w="10160">
            <a:solidFill>
              <a:srgbClr val="D5E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0" y="4754880"/>
            <a:ext cx="31546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PEER-SET LIMIT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0" y="5010912"/>
            <a:ext cx="30632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Listed pure-play wiring peers are scarce; adjacent lighting players are included with lower weight.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Multiples are indicative, rounded and should be refreshed from the latest filings / market close before publication.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03 / RELATIVE 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52B2A"/>
                </a:solidFill>
                <a:latin typeface="Aptos Display"/>
              </a:rPr>
              <a:t>Minda sits near the middle of the quality–valuation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34440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6963"/>
                </a:solidFill>
                <a:latin typeface="Aptos"/>
              </a:rPr>
              <a:t>The reference lines are peer medians, not reverse-engineered thresholds.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11000232" cy="13716"/>
          </a:xfrm>
          <a:prstGeom prst="rect">
            <a:avLst/>
          </a:prstGeom>
          <a:solidFill>
            <a:srgbClr val="D2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011680"/>
            <a:ext cx="5852160" cy="3520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17320" y="4983480"/>
            <a:ext cx="4526280" cy="10972"/>
          </a:xfrm>
          <a:prstGeom prst="rect">
            <a:avLst/>
          </a:prstGeom>
          <a:solidFill>
            <a:srgbClr val="252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2542032"/>
            <a:ext cx="10972" cy="2450592"/>
          </a:xfrm>
          <a:prstGeom prst="rect">
            <a:avLst/>
          </a:prstGeom>
          <a:solidFill>
            <a:srgbClr val="252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193792"/>
            <a:ext cx="30175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6963"/>
                </a:solidFill>
                <a:latin typeface="Aptos"/>
              </a:rPr>
              <a:t>P/E → higher 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88920"/>
            <a:ext cx="32004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646963"/>
                </a:solidFill>
                <a:latin typeface="Aptos"/>
              </a:rPr>
              <a:t>ROCE
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542032"/>
            <a:ext cx="10972" cy="2450592"/>
          </a:xfrm>
          <a:prstGeom prst="rect">
            <a:avLst/>
          </a:prstGeom>
          <a:solidFill>
            <a:srgbClr val="BE9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20" y="3749039"/>
            <a:ext cx="4526280" cy="10972"/>
          </a:xfrm>
          <a:prstGeom prst="rect">
            <a:avLst/>
          </a:prstGeom>
          <a:solidFill>
            <a:srgbClr val="BE9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46320" y="3090672"/>
            <a:ext cx="256032" cy="256032"/>
          </a:xfrm>
          <a:prstGeom prst="ellipse">
            <a:avLst/>
          </a:prstGeom>
          <a:solidFill>
            <a:srgbClr val="2D5B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59" y="3081528"/>
            <a:ext cx="914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52B2A"/>
                </a:solidFill>
                <a:latin typeface="Aptos"/>
              </a:rPr>
              <a:t>MSUMI</a:t>
            </a:r>
          </a:p>
        </p:txBody>
      </p:sp>
      <p:sp>
        <p:nvSpPr>
          <p:cNvPr id="15" name="Oval 14"/>
          <p:cNvSpPr/>
          <p:nvPr/>
        </p:nvSpPr>
        <p:spPr>
          <a:xfrm>
            <a:off x="2880360" y="3383280"/>
            <a:ext cx="256032" cy="256032"/>
          </a:xfrm>
          <a:prstGeom prst="ellipse">
            <a:avLst/>
          </a:prstGeom>
          <a:solidFill>
            <a:srgbClr val="2D5B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374136"/>
            <a:ext cx="914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52B2A"/>
                </a:solidFill>
                <a:latin typeface="Aptos"/>
              </a:rPr>
              <a:t>Fiem</a:t>
            </a:r>
          </a:p>
        </p:txBody>
      </p:sp>
      <p:sp>
        <p:nvSpPr>
          <p:cNvPr id="17" name="Oval 16"/>
          <p:cNvSpPr/>
          <p:nvPr/>
        </p:nvSpPr>
        <p:spPr>
          <a:xfrm>
            <a:off x="3246120" y="3657600"/>
            <a:ext cx="256032" cy="256032"/>
          </a:xfrm>
          <a:prstGeom prst="ellipse">
            <a:avLst/>
          </a:prstGeom>
          <a:solidFill>
            <a:srgbClr val="2D5B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3648456"/>
            <a:ext cx="914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52B2A"/>
                </a:solidFill>
                <a:latin typeface="Aptos"/>
              </a:rPr>
              <a:t>Lumax</a:t>
            </a:r>
          </a:p>
        </p:txBody>
      </p:sp>
      <p:sp>
        <p:nvSpPr>
          <p:cNvPr id="19" name="Oval 18"/>
          <p:cNvSpPr/>
          <p:nvPr/>
        </p:nvSpPr>
        <p:spPr>
          <a:xfrm>
            <a:off x="3840480" y="3977639"/>
            <a:ext cx="256032" cy="256032"/>
          </a:xfrm>
          <a:prstGeom prst="ellipse">
            <a:avLst/>
          </a:prstGeom>
          <a:solidFill>
            <a:srgbClr val="A6543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0520" y="3968496"/>
            <a:ext cx="914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52B2A"/>
                </a:solidFill>
                <a:latin typeface="Aptos"/>
              </a:rPr>
              <a:t>Minda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2697480"/>
            <a:ext cx="16459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Higher return / cheaper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697480"/>
            <a:ext cx="16459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Higher return / richer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09160"/>
            <a:ext cx="16459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A65438"/>
                </a:solidFill>
                <a:latin typeface="Aptos"/>
              </a:rPr>
              <a:t>Lower return / cheaper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4709160"/>
            <a:ext cx="16459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A65438"/>
                </a:solidFill>
                <a:latin typeface="Aptos"/>
              </a:rPr>
              <a:t>Lower return / richer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2011680"/>
            <a:ext cx="4389120" cy="3520440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2286000"/>
            <a:ext cx="3749039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READ-THROUGH</a:t>
            </a:r>
          </a:p>
        </p:txBody>
      </p:sp>
      <p:sp>
        <p:nvSpPr>
          <p:cNvPr id="27" name="Oval 26"/>
          <p:cNvSpPr/>
          <p:nvPr/>
        </p:nvSpPr>
        <p:spPr>
          <a:xfrm>
            <a:off x="7360920" y="2743200"/>
            <a:ext cx="82296" cy="82296"/>
          </a:xfrm>
          <a:prstGeom prst="ellipse">
            <a:avLst/>
          </a:prstGeom>
          <a:solidFill>
            <a:srgbClr val="BE9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2670048"/>
            <a:ext cx="3566159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MSUMI earns its premium through purity and higher ROCE.</a:t>
            </a:r>
          </a:p>
        </p:txBody>
      </p:sp>
      <p:sp>
        <p:nvSpPr>
          <p:cNvPr id="29" name="Oval 28"/>
          <p:cNvSpPr/>
          <p:nvPr/>
        </p:nvSpPr>
        <p:spPr>
          <a:xfrm>
            <a:off x="7360920" y="3456432"/>
            <a:ext cx="82296" cy="82296"/>
          </a:xfrm>
          <a:prstGeom prst="ellipse">
            <a:avLst/>
          </a:prstGeom>
          <a:solidFill>
            <a:srgbClr val="BE9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3383280"/>
            <a:ext cx="3566159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Minda has more optionality, but the market already values the recovery.</a:t>
            </a:r>
          </a:p>
        </p:txBody>
      </p:sp>
      <p:sp>
        <p:nvSpPr>
          <p:cNvPr id="31" name="Oval 30"/>
          <p:cNvSpPr/>
          <p:nvPr/>
        </p:nvSpPr>
        <p:spPr>
          <a:xfrm>
            <a:off x="7360920" y="4169664"/>
            <a:ext cx="82296" cy="82296"/>
          </a:xfrm>
          <a:prstGeom prst="ellipse">
            <a:avLst/>
          </a:prstGeom>
          <a:solidFill>
            <a:srgbClr val="BE9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4096512"/>
            <a:ext cx="3566159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A rerating needs sustained margin delivery, not just revenue growth.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Peer medians shown for directionality; datapoints are indicative analyst estimates.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04 / INVESTMENT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52B2A"/>
                </a:solidFill>
                <a:latin typeface="Aptos Display"/>
              </a:rPr>
              <a:t>HOLD: a good business, but not a bargain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34440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6963"/>
                </a:solidFill>
                <a:latin typeface="Aptos"/>
              </a:rPr>
              <a:t>The stock becomes more interesting when the price gives us room for execution risk.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11000232" cy="13716"/>
          </a:xfrm>
          <a:prstGeom prst="rect">
            <a:avLst/>
          </a:prstGeom>
          <a:solidFill>
            <a:srgbClr val="D2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2971800" cy="3246120"/>
          </a:xfrm>
          <a:prstGeom prst="rect">
            <a:avLst/>
          </a:prstGeom>
          <a:solidFill>
            <a:srgbClr val="2D5B48"/>
          </a:solidFill>
          <a:ln w="10160">
            <a:solidFill>
              <a:srgbClr val="2D5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3317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5E3D8"/>
                </a:solidFill>
                <a:latin typeface="Aptos"/>
              </a:rPr>
              <a:t>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24912"/>
            <a:ext cx="2468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500" b="1" i="0">
                <a:solidFill>
                  <a:srgbClr val="FFFFFF"/>
                </a:solidFill>
                <a:latin typeface="Aptos Display"/>
              </a:rPr>
              <a:t>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56432"/>
            <a:ext cx="228600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Accumulate on dips
into the ₹290–310 zone.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23317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5E3D8"/>
                </a:solidFill>
                <a:latin typeface="Aptos"/>
              </a:rPr>
              <a:t>Upside needs margin expansion and better capital efficiency.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048256"/>
            <a:ext cx="30632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TARGET-PRICE FRAMEWORK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2468880"/>
            <a:ext cx="91440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42232" y="2505456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80" y="2468880"/>
            <a:ext cx="91440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6632" y="2505456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FY27E EPS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2468880"/>
            <a:ext cx="73152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2505456"/>
            <a:ext cx="58521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P/E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2468880"/>
            <a:ext cx="914400" cy="43891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2552" y="2505456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2907792"/>
            <a:ext cx="9144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42232" y="2944368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Bear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2907792"/>
            <a:ext cx="9144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56632" y="2944368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₹10.5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97880" y="2907792"/>
            <a:ext cx="73152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1032" y="2944368"/>
            <a:ext cx="58521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28x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2907792"/>
            <a:ext cx="9144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2552" y="2944368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₹294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3346704"/>
            <a:ext cx="91440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42232" y="3383280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Base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83480" y="3346704"/>
            <a:ext cx="91440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56632" y="3383280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₹11.5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97880" y="3346704"/>
            <a:ext cx="73152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1032" y="3383280"/>
            <a:ext cx="58521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31x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3346704"/>
            <a:ext cx="914400" cy="43891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02552" y="3383280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₹357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9080" y="3785616"/>
            <a:ext cx="9144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42232" y="3822192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Bull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83480" y="3785616"/>
            <a:ext cx="9144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56632" y="3822192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₹12.2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7880" y="3785616"/>
            <a:ext cx="73152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71032" y="3822192"/>
            <a:ext cx="58521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33x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29400" y="3785616"/>
            <a:ext cx="9144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02552" y="3822192"/>
            <a:ext cx="76809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52B2A"/>
                </a:solidFill>
                <a:latin typeface="Aptos"/>
              </a:rPr>
              <a:t>₹403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96512" y="4315968"/>
            <a:ext cx="31546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52B2A"/>
                </a:solidFill>
                <a:latin typeface="Aptos"/>
              </a:rPr>
              <a:t>Base case implies a fair-value range of ₹340–370. The range is wide because the multiple, not only the earnings, is doing the work.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18120" y="2011680"/>
            <a:ext cx="3657600" cy="3246120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92440" y="2286000"/>
            <a:ext cx="31089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WHAT WOULD CHANGE THE CALL</a:t>
            </a:r>
          </a:p>
        </p:txBody>
      </p:sp>
      <p:sp>
        <p:nvSpPr>
          <p:cNvPr id="47" name="Oval 46"/>
          <p:cNvSpPr/>
          <p:nvPr/>
        </p:nvSpPr>
        <p:spPr>
          <a:xfrm>
            <a:off x="8092440" y="2770632"/>
            <a:ext cx="82296" cy="82296"/>
          </a:xfrm>
          <a:prstGeom prst="ellipse">
            <a:avLst/>
          </a:prstGeom>
          <a:solidFill>
            <a:srgbClr val="A65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75319" y="2697480"/>
            <a:ext cx="2880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BUY: ROCE clears 20% and EBITDA margin sustains above 12%.</a:t>
            </a:r>
          </a:p>
        </p:txBody>
      </p:sp>
      <p:sp>
        <p:nvSpPr>
          <p:cNvPr id="49" name="Oval 48"/>
          <p:cNvSpPr/>
          <p:nvPr/>
        </p:nvSpPr>
        <p:spPr>
          <a:xfrm>
            <a:off x="8092440" y="3483864"/>
            <a:ext cx="82296" cy="82296"/>
          </a:xfrm>
          <a:prstGeom prst="ellipse">
            <a:avLst/>
          </a:prstGeom>
          <a:solidFill>
            <a:srgbClr val="A65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19" y="3410712"/>
            <a:ext cx="2880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SELL: leverage rises while growth falls below high single digits.</a:t>
            </a:r>
          </a:p>
        </p:txBody>
      </p:sp>
      <p:sp>
        <p:nvSpPr>
          <p:cNvPr id="51" name="Oval 50"/>
          <p:cNvSpPr/>
          <p:nvPr/>
        </p:nvSpPr>
        <p:spPr>
          <a:xfrm>
            <a:off x="8092440" y="4197096"/>
            <a:ext cx="82296" cy="82296"/>
          </a:xfrm>
          <a:prstGeom prst="ellipse">
            <a:avLst/>
          </a:prstGeom>
          <a:solidFill>
            <a:srgbClr val="A65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75319" y="4123944"/>
            <a:ext cx="2880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WATCH: EV wins, export mix, and 2W concentration.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Analyst framework; not a live price target. Refresh with current price, shares outstanding and latest earnings before use.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05 /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52B2A"/>
                </a:solidFill>
                <a:latin typeface="Aptos Display"/>
              </a:rPr>
              <a:t>The debate is execution, not the existence of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34440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6963"/>
                </a:solidFill>
                <a:latin typeface="Aptos"/>
              </a:rPr>
              <a:t>Risk is manageable when monitored against explicit operating triggers.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11000232" cy="13716"/>
          </a:xfrm>
          <a:prstGeom prst="rect">
            <a:avLst/>
          </a:prstGeom>
          <a:solidFill>
            <a:srgbClr val="D2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1554480" cy="53035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002536"/>
            <a:ext cx="140817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Aptos"/>
              </a:rPr>
              <a:t>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965960"/>
            <a:ext cx="914400" cy="53035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2002536"/>
            <a:ext cx="7680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Aptos"/>
              </a:rPr>
              <a:t>Probability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822960" cy="53035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2002536"/>
            <a:ext cx="67665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Aptos"/>
              </a:rPr>
              <a:t>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50208" y="1965960"/>
            <a:ext cx="2743200" cy="53035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2002536"/>
            <a:ext cx="25968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Aptos"/>
              </a:rPr>
              <a:t>Monitor / trigger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3408" y="1965960"/>
            <a:ext cx="2103120" cy="530352"/>
          </a:xfrm>
          <a:prstGeom prst="rect">
            <a:avLst/>
          </a:prstGeom>
          <a:solidFill>
            <a:srgbClr val="2D5B48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002536"/>
            <a:ext cx="1956815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Aptos"/>
              </a:rPr>
              <a:t>Mitigation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496312"/>
            <a:ext cx="155448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" y="2532888"/>
            <a:ext cx="140817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2W concentration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2496312"/>
            <a:ext cx="9144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2532888"/>
            <a:ext cx="7680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High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27248" y="2496312"/>
            <a:ext cx="8229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2532888"/>
            <a:ext cx="67665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High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0208" y="2496312"/>
            <a:ext cx="27432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2532888"/>
            <a:ext cx="25968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2W mix; OEM volumes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93408" y="2496312"/>
            <a:ext cx="2103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2532888"/>
            <a:ext cx="1956815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Broaden PV / exports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026663"/>
            <a:ext cx="155448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19" y="3063239"/>
            <a:ext cx="140817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Leverage &amp; capex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3026663"/>
            <a:ext cx="91440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3063239"/>
            <a:ext cx="7680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27248" y="3026663"/>
            <a:ext cx="82296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0" y="3063239"/>
            <a:ext cx="67665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High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0208" y="3026663"/>
            <a:ext cx="274320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23360" y="3063239"/>
            <a:ext cx="25968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Net debt / EBITDA &gt;2x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93408" y="3026663"/>
            <a:ext cx="210312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0" y="3063239"/>
            <a:ext cx="1956815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Stage-gate investments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3557015"/>
            <a:ext cx="155448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19" y="3593591"/>
            <a:ext cx="140817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Low ROCE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12848" y="3557015"/>
            <a:ext cx="9144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86000" y="3593591"/>
            <a:ext cx="7680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Medium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27248" y="3557015"/>
            <a:ext cx="8229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3593591"/>
            <a:ext cx="67665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High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50208" y="3557015"/>
            <a:ext cx="27432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23360" y="3593591"/>
            <a:ext cx="25968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ROCE below 17%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93408" y="3557015"/>
            <a:ext cx="2103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0" y="3593591"/>
            <a:ext cx="1956815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Mix + working-capital discipline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4087368"/>
            <a:ext cx="155448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19" y="4123944"/>
            <a:ext cx="140817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EV execution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12848" y="4087368"/>
            <a:ext cx="91440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86000" y="4123944"/>
            <a:ext cx="7680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Medium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27248" y="4087368"/>
            <a:ext cx="82296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0" y="4123944"/>
            <a:ext cx="67665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Medium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50208" y="4087368"/>
            <a:ext cx="274320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23360" y="4123944"/>
            <a:ext cx="25968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Launch delays / win loss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93408" y="4087368"/>
            <a:ext cx="2103120" cy="530352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66560" y="4123944"/>
            <a:ext cx="1956815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Pilot before 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4617720"/>
            <a:ext cx="155448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19" y="4654296"/>
            <a:ext cx="140817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Input costs / competition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12848" y="4617720"/>
            <a:ext cx="9144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86000" y="4654296"/>
            <a:ext cx="7680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Medium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27248" y="4617720"/>
            <a:ext cx="8229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0" y="4654296"/>
            <a:ext cx="67665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Medium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50208" y="4617720"/>
            <a:ext cx="274320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0" y="4654296"/>
            <a:ext cx="2596896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Gross margin compression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93408" y="4617720"/>
            <a:ext cx="2103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4654296"/>
            <a:ext cx="1956815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69" b="0" i="0">
                <a:solidFill>
                  <a:srgbClr val="252B2A"/>
                </a:solidFill>
                <a:latin typeface="Aptos"/>
              </a:rPr>
              <a:t>Pass-through + sourcing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5800" y="5257800"/>
            <a:ext cx="10698480" cy="411480"/>
          </a:xfrm>
          <a:prstGeom prst="rect">
            <a:avLst/>
          </a:prstGeom>
          <a:solidFill>
            <a:srgbClr val="EFDACF"/>
          </a:solidFill>
          <a:ln w="10160">
            <a:solidFill>
              <a:srgbClr val="EF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8680" y="5358384"/>
            <a:ext cx="10241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A65438"/>
                </a:solidFill>
                <a:latin typeface="Aptos"/>
              </a:rPr>
              <a:t>Key watch item for the next two results: can margin gains outrun the capital required to fund the next leg of growth?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Data as of FY25 / latest company disclosures; estimates are analyst calculations.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52B2A"/>
                </a:solidFill>
                <a:latin typeface="Aptos Display"/>
              </a:rPr>
              <a:t>Definitions and analyst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34440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6963"/>
                </a:solidFill>
                <a:latin typeface="Aptos"/>
              </a:rPr>
              <a:t>A short audit trail makes the recommendation easier to defend.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11000232" cy="13716"/>
          </a:xfrm>
          <a:prstGeom prst="rect">
            <a:avLst/>
          </a:prstGeom>
          <a:solidFill>
            <a:srgbClr val="D2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6634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METHOD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697480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24328"/>
            <a:ext cx="4389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Peer set is selected for component exposure, listed status and Indian operating context.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319272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246120"/>
            <a:ext cx="4389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Peer median is used for the valuation map divider.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941064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867912"/>
            <a:ext cx="4389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Target value = forward EPS × selected P/E band.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62856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489704"/>
            <a:ext cx="4389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Figures are rounded; estimates are clearly labelled as analyst-derived.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965960"/>
            <a:ext cx="5257800" cy="3566160"/>
          </a:xfrm>
          <a:prstGeom prst="rect">
            <a:avLst/>
          </a:prstGeom>
          <a:solidFill>
            <a:srgbClr val="F1F0E9"/>
          </a:solidFill>
          <a:ln w="10160">
            <a:solidFill>
              <a:srgbClr val="D2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240280"/>
            <a:ext cx="46634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DEFINITIONS</a:t>
            </a:r>
          </a:p>
        </p:txBody>
      </p:sp>
      <p:sp>
        <p:nvSpPr>
          <p:cNvPr id="18" name="Oval 17"/>
          <p:cNvSpPr/>
          <p:nvPr/>
        </p:nvSpPr>
        <p:spPr>
          <a:xfrm>
            <a:off x="6428232" y="2697480"/>
            <a:ext cx="82296" cy="82296"/>
          </a:xfrm>
          <a:prstGeom prst="ellipse">
            <a:avLst/>
          </a:prstGeom>
          <a:solidFill>
            <a:srgbClr val="BE9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2624328"/>
            <a:ext cx="4389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ROCE: operating profit relative to capital employed.</a:t>
            </a:r>
          </a:p>
        </p:txBody>
      </p:sp>
      <p:sp>
        <p:nvSpPr>
          <p:cNvPr id="20" name="Oval 19"/>
          <p:cNvSpPr/>
          <p:nvPr/>
        </p:nvSpPr>
        <p:spPr>
          <a:xfrm>
            <a:off x="6428232" y="3319272"/>
            <a:ext cx="82296" cy="82296"/>
          </a:xfrm>
          <a:prstGeom prst="ellipse">
            <a:avLst/>
          </a:prstGeom>
          <a:solidFill>
            <a:srgbClr val="BE9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1112" y="3246120"/>
            <a:ext cx="4389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P/E: market price divided by forward earnings per share.</a:t>
            </a:r>
          </a:p>
        </p:txBody>
      </p:sp>
      <p:sp>
        <p:nvSpPr>
          <p:cNvPr id="22" name="Oval 21"/>
          <p:cNvSpPr/>
          <p:nvPr/>
        </p:nvSpPr>
        <p:spPr>
          <a:xfrm>
            <a:off x="6428232" y="3941064"/>
            <a:ext cx="82296" cy="82296"/>
          </a:xfrm>
          <a:prstGeom prst="ellipse">
            <a:avLst/>
          </a:prstGeom>
          <a:solidFill>
            <a:srgbClr val="BE9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12" y="3867912"/>
            <a:ext cx="4389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EV/EBITDA: enterprise value relative to operating cash earnings.</a:t>
            </a:r>
          </a:p>
        </p:txBody>
      </p:sp>
      <p:sp>
        <p:nvSpPr>
          <p:cNvPr id="24" name="Oval 23"/>
          <p:cNvSpPr/>
          <p:nvPr/>
        </p:nvSpPr>
        <p:spPr>
          <a:xfrm>
            <a:off x="6428232" y="4562856"/>
            <a:ext cx="82296" cy="82296"/>
          </a:xfrm>
          <a:prstGeom prst="ellipse">
            <a:avLst/>
          </a:prstGeom>
          <a:solidFill>
            <a:srgbClr val="BE9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11112" y="4489704"/>
            <a:ext cx="4389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52B2A"/>
                </a:solidFill>
                <a:latin typeface="Aptos"/>
              </a:rPr>
              <a:t>Pure-play: company with a more concentrated exposure to the relevant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Data as of FY25 / latest company disclosures; estimates are analyst calculations.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D5B48"/>
                </a:solidFill>
                <a:latin typeface="Aptos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52B2A"/>
                </a:solidFill>
                <a:latin typeface="Aptos Display"/>
              </a:rPr>
              <a:t>Sources used and data caveats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34440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6963"/>
                </a:solidFill>
                <a:latin typeface="Aptos"/>
              </a:rPr>
              <a:t>The deck is designed to be refreshed, not treated as a static data dump.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11000232" cy="13716"/>
          </a:xfrm>
          <a:prstGeom prst="rect">
            <a:avLst/>
          </a:prstGeom>
          <a:solidFill>
            <a:srgbClr val="D2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D5B48"/>
                </a:solidFill>
                <a:latin typeface="Aptos"/>
              </a:rPr>
              <a:t>Primary sources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679192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103327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52B2A"/>
                </a:solidFill>
                <a:latin typeface="Aptos"/>
              </a:rPr>
              <a:t>Minda Corporation annual report and investor presentations, FY23–FY25.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337560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103327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52B2A"/>
                </a:solidFill>
                <a:latin typeface="Aptos"/>
              </a:rPr>
              <a:t>Company filings and exchange disclosures for segment mix, debt and operating commentary.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995928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22776"/>
            <a:ext cx="103327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52B2A"/>
                </a:solidFill>
                <a:latin typeface="Aptos"/>
              </a:rPr>
              <a:t>Peer company annual reports and investor presentations: MSUMI, Lumax Industries and Fiem Industries.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654296"/>
            <a:ext cx="82296" cy="82296"/>
          </a:xfrm>
          <a:prstGeom prst="ellipse">
            <a:avLst/>
          </a:prstGeom>
          <a:solidFill>
            <a:srgbClr val="2D5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581144"/>
            <a:ext cx="103327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52B2A"/>
                </a:solidFill>
                <a:latin typeface="Aptos"/>
              </a:rPr>
              <a:t>Market multiples and prices: indicative snapshot; verify against the latest exchange close / Screener or equivalent before publication.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57800"/>
            <a:ext cx="10515600" cy="502920"/>
          </a:xfrm>
          <a:prstGeom prst="rect">
            <a:avLst/>
          </a:prstGeom>
          <a:solidFill>
            <a:srgbClr val="EFDACF"/>
          </a:solidFill>
          <a:ln w="10160">
            <a:solidFill>
              <a:srgbClr val="EF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385816"/>
            <a:ext cx="10058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A65438"/>
                </a:solidFill>
                <a:latin typeface="Aptos"/>
              </a:rPr>
              <a:t>Important: valuation figures are rounded and partly analyst-estimated. They are not a substitute for current market data or independent diligence.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Data as of 9 September 2026 for presentation purposes; confirm all figures before external circulation.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38404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D5B48"/>
                </a:solidFill>
                <a:latin typeface="Aptos"/>
              </a:rPr>
              <a:t>MINDA CORPORATION / INVESTMENT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920240"/>
            <a:ext cx="713232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800" b="1" i="0">
                <a:solidFill>
                  <a:srgbClr val="252B2A"/>
                </a:solidFill>
                <a:latin typeface="Aptos Display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788920"/>
            <a:ext cx="71323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646963"/>
                </a:solidFill>
                <a:latin typeface="Aptos Display"/>
              </a:rPr>
              <a:t>Questions, challenges and what would make us change the call.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4206240"/>
            <a:ext cx="3474720" cy="822960"/>
          </a:xfrm>
          <a:prstGeom prst="rect">
            <a:avLst/>
          </a:prstGeom>
          <a:solidFill>
            <a:srgbClr val="2D5B48"/>
          </a:solidFill>
          <a:ln w="10160">
            <a:solidFill>
              <a:srgbClr val="2D5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4416552"/>
            <a:ext cx="3017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ptos Display"/>
              </a:rPr>
              <a:t>HOLD / ACCUMULATE ON DIPS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580644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646963"/>
                </a:solidFill>
                <a:latin typeface="Aptos"/>
              </a:rPr>
              <a:t>Investment committee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547104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750" b="0" i="1">
                <a:solidFill>
                  <a:srgbClr val="646963"/>
                </a:solidFill>
                <a:latin typeface="Aptos"/>
              </a:rPr>
              <a:t>For discussion only. Please verify all market data and assumptions before relying on this presentation.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10528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2D5B48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