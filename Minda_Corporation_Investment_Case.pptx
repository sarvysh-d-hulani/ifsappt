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1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TTM Jun'26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4651</c:v>
                </c:pt>
                <c:pt idx="1">
                  <c:v>5056</c:v>
                </c:pt>
                <c:pt idx="2">
                  <c:v>6185</c:v>
                </c:pt>
                <c:pt idx="3">
                  <c:v>6646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00B3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TTM Jun'26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227</c:v>
                </c:pt>
                <c:pt idx="1">
                  <c:v>255</c:v>
                </c:pt>
                <c:pt idx="2">
                  <c:v>358</c:v>
                </c:pt>
                <c:pt idx="3">
                  <c:v>499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E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0F1F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Wiring
Harness</c:v>
                  </c:pt>
                  <c:pt idx="1">
                    <c:v>Instrument
Clusters</c:v>
                  </c:pt>
                  <c:pt idx="2">
                    <c:v>Mechatronics
&amp; Aftermarket</c:v>
                  </c:pt>
                  <c:pt idx="3">
                    <c:v>Info &amp;
Connected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33</c:v>
                </c:pt>
                <c:pt idx="3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 %</c:v>
                </c:pt>
              </c:strCache>
            </c:strRef>
          </c:tx>
          <c:spPr>
            <a:solidFill>
              <a:srgbClr val="0089A0"/>
            </a:solidFill>
            <a:ln w="31750" cap="flat">
              <a:solidFill>
                <a:srgbClr val="0089A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9A0"/>
              </a:solidFill>
              <a:ln w="9525" cap="flat">
                <a:solidFill>
                  <a:srgbClr val="0089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</c:v>
                </c:pt>
                <c:pt idx="1">
                  <c:v>2.1</c:v>
                </c:pt>
                <c:pt idx="2">
                  <c:v>3.1</c:v>
                </c:pt>
                <c:pt idx="3">
                  <c:v>4.3</c:v>
                </c:pt>
                <c:pt idx="4">
                  <c:v>3.2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F1F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463040"/>
            <a:ext cx="3840480" cy="3840480"/>
          </a:xfrm>
          <a:prstGeom prst="ellipse">
            <a:avLst/>
          </a:prstGeom>
          <a:solidFill>
            <a:srgbClr val="16294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629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CASE STUDY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Minda Corporation Ltd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good investment? Building the case, step by step.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2514600" cy="960120"/>
          </a:xfrm>
          <a:prstGeom prst="rect">
            <a:avLst/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40416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/ BSE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4297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MINDACORP / 538962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74720" y="3931920"/>
            <a:ext cx="2514600" cy="960120"/>
          </a:xfrm>
          <a:prstGeom prst="rect">
            <a:avLst/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40416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(4 SEP 2026)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4297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2514600" cy="960120"/>
          </a:xfrm>
          <a:prstGeom prst="rect">
            <a:avLst/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40416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4297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₹16,802 Cr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778240" y="3931920"/>
            <a:ext cx="2514600" cy="960120"/>
          </a:xfrm>
          <a:prstGeom prst="rect">
            <a:avLst/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42832" y="40416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4297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Components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51663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166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 is organised: what Minda Corp does → the industry it sells into → how it stacks up against 3 close peers → my final call → what could prove me wrong.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Submission  |  Investment Advisory Practice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An OEM-Led Mechatronics &amp; Electricals Play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Minda Corp makes the switches, wiring and electronics inside your bike or car, and sells them to the vehicle makers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508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REVENUE IS EARNED  —  TWO BROAD VERTICALS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184708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" y="1993392"/>
            <a:ext cx="621792" cy="621792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" y="1993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9385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&amp; Aftermarket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2128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Ignition/keyless switches, immobilizers, die-casting + branded aftermarket (helmets, filters, lubricants)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502920" y="28803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" y="3026664"/>
            <a:ext cx="621792" cy="621792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7512" y="3026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9718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Connected Systems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3246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harness (32% of total revenue), vehicle-access systems (25%), digital clusters, telematics</a:t>
            </a:r>
            <a:endParaRPr lang="en-US" sz="98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39867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MONEY FLOWS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29768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F1F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7784" y="4352544"/>
            <a:ext cx="10607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(metals, plastics,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electronics)</a:t>
            </a:r>
            <a:endParaRPr lang="en-US" sz="830" dirty="0"/>
          </a:p>
        </p:txBody>
      </p:sp>
      <p:sp>
        <p:nvSpPr>
          <p:cNvPr id="20" name="Text 17"/>
          <p:cNvSpPr txBox="1"/>
          <p:nvPr/>
        </p:nvSpPr>
        <p:spPr>
          <a:xfrm>
            <a:off x="1673352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01368" y="429768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F1F3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856232" y="4352544"/>
            <a:ext cx="10607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R&amp;D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(30+ plants)</a:t>
            </a:r>
            <a:endParaRPr lang="en-US" sz="830" dirty="0"/>
          </a:p>
        </p:txBody>
      </p:sp>
      <p:sp>
        <p:nvSpPr>
          <p:cNvPr id="23" name="Text 20"/>
          <p:cNvSpPr txBox="1"/>
          <p:nvPr/>
        </p:nvSpPr>
        <p:spPr>
          <a:xfrm>
            <a:off x="2971800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099816" y="429768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F1F3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154680" y="4352544"/>
            <a:ext cx="10607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Supply +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Aftermarket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(sold to Bajaj, TVS...)</a:t>
            </a:r>
            <a:endParaRPr lang="en-US" sz="830" dirty="0"/>
          </a:p>
        </p:txBody>
      </p:sp>
      <p:sp>
        <p:nvSpPr>
          <p:cNvPr id="26" name="Text 23"/>
          <p:cNvSpPr txBox="1"/>
          <p:nvPr/>
        </p:nvSpPr>
        <p:spPr>
          <a:xfrm>
            <a:off x="4270248" y="4297680"/>
            <a:ext cx="128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398264" y="429768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0B3C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453128" y="4352544"/>
            <a:ext cx="10607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(~12% OPM)</a:t>
            </a:r>
            <a:endParaRPr lang="en-US" sz="83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5166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run ~73-75% of expenses — which is why op. margin has stayed a steady 11-12% even as revenue tripled since FY20.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02920" y="5550408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0F1F3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5800" y="56418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TAKEAWAY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85216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raw materials dominate costs, Minda's margin story is really a mix &amp; premiumisation story — not a volume one. Growth alone won't re-rate the stock; richer-content products (EV harnesses, clusters) will.</a:t>
            </a:r>
            <a:endParaRPr lang="en-US" sz="930" dirty="0"/>
          </a:p>
        </p:txBody>
      </p:sp>
      <p:sp>
        <p:nvSpPr>
          <p:cNvPr id="33" name="Text 30"/>
          <p:cNvSpPr txBox="1"/>
          <p:nvPr/>
        </p:nvSpPr>
        <p:spPr>
          <a:xfrm>
            <a:off x="5852160" y="15087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TREND (₹ Cr, Consolidated)</a:t>
            </a:r>
            <a:endParaRPr lang="en-US" sz="11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5852160" y="1828800"/>
          <a:ext cx="58064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31"/>
          <p:cNvSpPr/>
          <p:nvPr/>
        </p:nvSpPr>
        <p:spPr>
          <a:xfrm>
            <a:off x="5852160" y="4526280"/>
            <a:ext cx="1383030" cy="841248"/>
          </a:xfrm>
          <a:prstGeom prst="roundRect">
            <a:avLst>
              <a:gd name="adj" fmla="val 6522"/>
            </a:avLst>
          </a:prstGeom>
          <a:solidFill>
            <a:srgbClr val="0F1F3D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5907024" y="4581144"/>
            <a:ext cx="1273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5907024" y="5001768"/>
            <a:ext cx="1273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(5YR)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7326630" y="4526280"/>
            <a:ext cx="1383030" cy="841248"/>
          </a:xfrm>
          <a:prstGeom prst="roundRect">
            <a:avLst>
              <a:gd name="adj" fmla="val 6522"/>
            </a:avLst>
          </a:prstGeom>
          <a:solidFill>
            <a:srgbClr val="0F1F3D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381494" y="4581144"/>
            <a:ext cx="1273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450" dirty="0"/>
          </a:p>
        </p:txBody>
      </p:sp>
      <p:sp>
        <p:nvSpPr>
          <p:cNvPr id="40" name="Text 36"/>
          <p:cNvSpPr txBox="1"/>
          <p:nvPr/>
        </p:nvSpPr>
        <p:spPr>
          <a:xfrm>
            <a:off x="7381494" y="5001768"/>
            <a:ext cx="1273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 (FY26)</a:t>
            </a:r>
            <a:endParaRPr lang="en-US" sz="780" dirty="0"/>
          </a:p>
        </p:txBody>
      </p:sp>
      <p:sp>
        <p:nvSpPr>
          <p:cNvPr id="41" name="Shape 37"/>
          <p:cNvSpPr/>
          <p:nvPr/>
        </p:nvSpPr>
        <p:spPr>
          <a:xfrm>
            <a:off x="8801100" y="4526280"/>
            <a:ext cx="1383030" cy="841248"/>
          </a:xfrm>
          <a:prstGeom prst="roundRect">
            <a:avLst>
              <a:gd name="adj" fmla="val 6522"/>
            </a:avLst>
          </a:prstGeom>
          <a:solidFill>
            <a:srgbClr val="0F1F3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855964" y="4581144"/>
            <a:ext cx="1273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12.7%</a:t>
            </a:r>
            <a:endParaRPr lang="en-US" sz="1450" dirty="0"/>
          </a:p>
        </p:txBody>
      </p:sp>
      <p:sp>
        <p:nvSpPr>
          <p:cNvPr id="43" name="Text 39"/>
          <p:cNvSpPr txBox="1"/>
          <p:nvPr/>
        </p:nvSpPr>
        <p:spPr>
          <a:xfrm>
            <a:off x="8855964" y="5001768"/>
            <a:ext cx="1273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(FY26)</a:t>
            </a:r>
            <a:endParaRPr lang="en-US" sz="780" dirty="0"/>
          </a:p>
        </p:txBody>
      </p:sp>
      <p:sp>
        <p:nvSpPr>
          <p:cNvPr id="44" name="Shape 40"/>
          <p:cNvSpPr/>
          <p:nvPr/>
        </p:nvSpPr>
        <p:spPr>
          <a:xfrm>
            <a:off x="10275570" y="4526280"/>
            <a:ext cx="1383030" cy="841248"/>
          </a:xfrm>
          <a:prstGeom prst="roundRect">
            <a:avLst>
              <a:gd name="adj" fmla="val 6522"/>
            </a:avLst>
          </a:prstGeom>
          <a:solidFill>
            <a:srgbClr val="0F1F3D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10330434" y="4581144"/>
            <a:ext cx="1273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₹11,000+ Cr</a:t>
            </a:r>
            <a:endParaRPr lang="en-US" sz="1450" dirty="0"/>
          </a:p>
        </p:txBody>
      </p:sp>
      <p:sp>
        <p:nvSpPr>
          <p:cNvPr id="46" name="Text 42"/>
          <p:cNvSpPr txBox="1"/>
          <p:nvPr/>
        </p:nvSpPr>
        <p:spPr>
          <a:xfrm>
            <a:off x="10330434" y="5001768"/>
            <a:ext cx="1273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ORDER BOOK</a:t>
            </a:r>
            <a:endParaRPr lang="en-US" sz="780" dirty="0"/>
          </a:p>
        </p:txBody>
      </p:sp>
      <p:sp>
        <p:nvSpPr>
          <p:cNvPr id="47" name="Shape 43"/>
          <p:cNvSpPr/>
          <p:nvPr/>
        </p:nvSpPr>
        <p:spPr>
          <a:xfrm>
            <a:off x="5852160" y="5504688"/>
            <a:ext cx="5806440" cy="9144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016752" y="5504688"/>
            <a:ext cx="5477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this? Bajaj, TVS, Hero MotoCorp, Honda, Maruti Suzuki, Tata Motors, Mahindra, Royal Enfield — plus EV-native names like Ather and Ola Electric. “Vision 2030” targets revenue &gt;₹17,500 Cr (~3.5x FY25), leaning on exports, premiumisation and global tech tie-ups.</a:t>
            </a:r>
            <a:endParaRPr lang="en-US" sz="960" dirty="0"/>
          </a:p>
        </p:txBody>
      </p:sp>
      <p:sp>
        <p:nvSpPr>
          <p:cNvPr id="49" name="Text 45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Screener.in (consolidated financials); company investor presentations / concall transcripts, FY2024-26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Analysis: Cyclical Tailwinds, Structural Ambition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put: the near-term picture (2-wheelers, GST) looks good; the long-term picture (EVs, exports) needs patience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819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89A0"/>
          </a:solidFill>
          <a:ln/>
        </p:spPr>
      </p:sp>
      <p:pic>
        <p:nvPicPr>
          <p:cNvPr id="8" name="Image 1" descr="/home/claude/minda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642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97864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SCALE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58952" y="2075688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revenue ₹7.59 lakh Cr (~US$85.9bn) in FY26, up 12.7% YoY — OEM supply +16.3%, aftermarket +9%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ACMA guides 8-10% growth for FY27 on export demand + domestic vehicle production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+5% YoY to $24bn; imports +13% — first trade deficit (US$1.4bn) in two years</a:t>
            </a:r>
            <a:endParaRPr lang="en-US" sz="104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55080" y="15819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1E7A52"/>
          </a:solidFill>
          <a:ln/>
        </p:spPr>
      </p:sp>
      <p:pic>
        <p:nvPicPr>
          <p:cNvPr id="13" name="Image 2" descr="/home/claude/minda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6642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67144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TRENDS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075688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2.0 (Sep-2025) cut sub-350cc ICE 2W tax from 28% → 18%, reviving affordability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 retail sales +13.4% YoY in FY26, nearing the pre-pandemic peak of 21.1mn units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2W penetration eased to ~6.5% (from 6.7%) as ICE got relatively cheaper — EV growth slowed to ~9.5% from 21%</a:t>
            </a:r>
            <a:endParaRPr lang="en-US" sz="1040" dirty="0"/>
          </a:p>
        </p:txBody>
      </p:sp>
      <p:sp>
        <p:nvSpPr>
          <p:cNvPr id="16" name="Shape 11"/>
          <p:cNvSpPr/>
          <p:nvPr/>
        </p:nvSpPr>
        <p:spPr>
          <a:xfrm>
            <a:off x="502920" y="3867912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" y="403250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C9711A"/>
          </a:solidFill>
          <a:ln/>
        </p:spPr>
      </p:sp>
      <p:pic>
        <p:nvPicPr>
          <p:cNvPr id="18" name="Image 3" descr="/home/claude/minda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1480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97864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INTENSITY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58952" y="4526280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global majors (Bosch, Denso, Continental, Motherson) contest OEM wallet-share in electricals/electronics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domestic peer Uno Minda (~4x Minda Corp's revenue) competes directly in switches, wiring &amp; lighting-adjacent lines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increasingly via tech tie-ups (Furukawa, Stoneridge, Flash Electronics) rather than scale alone</a:t>
            </a:r>
            <a:endParaRPr lang="en-US" sz="1040" dirty="0"/>
          </a:p>
        </p:txBody>
      </p:sp>
      <p:sp>
        <p:nvSpPr>
          <p:cNvPr id="21" name="Shape 15"/>
          <p:cNvSpPr/>
          <p:nvPr/>
        </p:nvSpPr>
        <p:spPr>
          <a:xfrm>
            <a:off x="6172200" y="3867912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55080" y="403250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F1F3D"/>
          </a:solidFill>
          <a:ln/>
        </p:spPr>
      </p:sp>
      <p:pic>
        <p:nvPicPr>
          <p:cNvPr id="23" name="Image 4" descr="/home/claude/minda/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411480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67144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GROWTH OUTLOOK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526280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PLI-Auto scheme (~₹25,938 Cr outlay) rewards localisation of EV/electronics content — a direct tailwind for Minda's HV harness &amp; BMS push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Section 301 probe into 16 countries (incl. India) is an export tail-risk to monitor</a:t>
            </a:r>
            <a:endParaRPr lang="en-US" sz="104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4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ACMA-BCG/McKinsey see the industry scaling to ~US$200bn by 2030, led 5x by export growth</a:t>
            </a:r>
            <a:endParaRPr lang="en-US" sz="1040" dirty="0"/>
          </a:p>
        </p:txBody>
      </p:sp>
      <p:sp>
        <p:nvSpPr>
          <p:cNvPr id="26" name="Text 19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ACMA FY26 industry performance review (Jul 2026); Business Standard, Autocar Professional, IBEF, ACMA-BCG/McKinsey outlook reports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Valuation: Benchmarking Against Three Listed Peers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set chosen for genuine business-model overlap with Minda Corp — not just “auto ancillary” proximity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3703320"/>
        </p:xfrm>
        <a:graphic>
          <a:graphicData uri="http://schemas.openxmlformats.org/drawingml/2006/table">
            <a:tbl>
              <a:tblPr/>
              <a:tblGrid>
                <a:gridCol w="3063240"/>
                <a:gridCol w="2048256"/>
                <a:gridCol w="2048256"/>
                <a:gridCol w="2048256"/>
                <a:gridCol w="194767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Minda Corp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(Target)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Uno Minda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Fiem Industries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Lumax Industries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Market Cap (₹ Cr)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16,802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72,166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5,472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5,782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CMP (₹)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703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1,250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2,079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6,188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Revenue — TTM (₹ Cr)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6,646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20,725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~2,680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4,485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P/E (x) — ₹ paid per ₹1 profit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41.7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59.0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20.8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28.8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P/B (x)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6.4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10.6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4.5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6.3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EV/EBITDA (x, approx.)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~23.6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~32.9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~17.4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~15.6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EV/Sales (x, approx.)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~2.75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~3.61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~2.27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~1.51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ROE (%)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14.7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19.3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22.6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22.0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ROCE (%) — return on capital used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12.7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19.6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29.3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17.7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OPM (%)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12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11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~13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10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Sales CAGR — 5yr (%)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0F1F3D"/>
                          </a:solidFill>
                        </a:rPr>
                        <a:t>21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25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~12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6213A"/>
                          </a:solidFill>
                        </a:rPr>
                        <a:t>24</a:t>
                      </a:r>
                      <a:endParaRPr lang="en-US" sz="103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285232"/>
            <a:ext cx="3596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5358384"/>
            <a:ext cx="332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Minda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614416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founding family, near-identical product basket (switches, wiring, mechatronics) — closest pure-play, but ~4x larger scale.</a:t>
            </a:r>
            <a:endParaRPr lang="en-US" sz="920" dirty="0"/>
          </a:p>
        </p:txBody>
      </p:sp>
      <p:sp>
        <p:nvSpPr>
          <p:cNvPr id="10" name="Shape 6"/>
          <p:cNvSpPr/>
          <p:nvPr/>
        </p:nvSpPr>
        <p:spPr>
          <a:xfrm>
            <a:off x="4282440" y="5285232"/>
            <a:ext cx="3596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19600" y="5358384"/>
            <a:ext cx="332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Fiem Industries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419600" y="5614416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Auto-lighting Tier-1 supplying the same 2W/PV OEMs; adjacent product line, useful for margin &amp; capital-efficiency benchmarking.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8061960" y="5285232"/>
            <a:ext cx="3596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99120" y="5358384"/>
            <a:ext cx="332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Lumax Industries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199120" y="5614416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JV with Stanley Electric (Japan); similar mid-cap scale and OEM overlap with Minda Corp's customer base.</a:t>
            </a:r>
            <a:endParaRPr lang="en-US" sz="92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= Market Cap + Total Borrowings (cash not netted due to data availability). Quick glossary: P/E = price paid per ₹1 of profit; ROCE = profit earned per ₹1 of capital employed. Source: Screener.in, 4 Sep 2026 close prices.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Valuation Matrix: What You Pay vs. What You Get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approach: plot the multiple (P/E) against the return it actually earns (ROCE) — the gap between the two tells the real story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787091" cy="2147977"/>
          </a:xfrm>
          <a:prstGeom prst="rect">
            <a:avLst/>
          </a:prstGeom>
          <a:solidFill>
            <a:srgbClr val="FBEBDD"/>
          </a:solidFill>
          <a:ln/>
        </p:spPr>
      </p:sp>
      <p:sp>
        <p:nvSpPr>
          <p:cNvPr id="7" name="Shape 4"/>
          <p:cNvSpPr/>
          <p:nvPr/>
        </p:nvSpPr>
        <p:spPr>
          <a:xfrm>
            <a:off x="3427171" y="1783080"/>
            <a:ext cx="3019349" cy="2147977"/>
          </a:xfrm>
          <a:prstGeom prst="rect">
            <a:avLst/>
          </a:prstGeom>
          <a:solidFill>
            <a:srgbClr val="E9F3EC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3931057"/>
            <a:ext cx="2787091" cy="1646783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9" name="Shape 6"/>
          <p:cNvSpPr/>
          <p:nvPr/>
        </p:nvSpPr>
        <p:spPr>
          <a:xfrm>
            <a:off x="3427171" y="3931057"/>
            <a:ext cx="3019349" cy="1646783"/>
          </a:xfrm>
          <a:prstGeom prst="rect">
            <a:avLst/>
          </a:prstGeom>
          <a:solidFill>
            <a:srgbClr val="D9F0E1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783080"/>
            <a:ext cx="5806440" cy="3794760"/>
          </a:xfrm>
          <a:prstGeom prst="rect">
            <a:avLst/>
          </a:prstGeom>
          <a:ln w="15875">
            <a:solidFill>
              <a:srgbClr val="D7E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7171" y="1783080"/>
            <a:ext cx="0" cy="3794760"/>
          </a:xfrm>
          <a:prstGeom prst="line">
            <a:avLst/>
          </a:prstGeom>
          <a:noFill/>
          <a:ln w="12700">
            <a:solidFill>
              <a:srgbClr val="9AA9C4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3931057"/>
            <a:ext cx="5806440" cy="0"/>
          </a:xfrm>
          <a:prstGeom prst="line">
            <a:avLst/>
          </a:prstGeom>
          <a:noFill/>
          <a:ln w="12700">
            <a:solidFill>
              <a:srgbClr val="9AA9C4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77240" y="1892808"/>
            <a:ext cx="26042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97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MULTIPLE,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97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 RETURNS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564331" y="1892808"/>
            <a:ext cx="274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040785"/>
            <a:ext cx="26042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RETURNS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564331" y="4040785"/>
            <a:ext cx="274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ZONE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65099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— Return on Capital Employed (%)  →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3152" y="1783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(x)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152851" y="55961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37160" y="3839617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35x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585387" y="3305038"/>
            <a:ext cx="292608" cy="292608"/>
          </a:xfrm>
          <a:prstGeom prst="ellipse">
            <a:avLst/>
          </a:prstGeom>
          <a:solidFill>
            <a:srgbClr val="00B3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3011" y="363422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 Corp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(12.7%, 41.7x)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24540" y="2102947"/>
            <a:ext cx="219456" cy="21945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65588" y="235897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Minda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(19.6%, 59x)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5477439" y="4838039"/>
            <a:ext cx="219456" cy="21945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18487" y="5094071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Fiem Industries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(29.3%, 20.8x)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2783251" y="4265245"/>
            <a:ext cx="219456" cy="21945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24299" y="4521277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Lumax Industries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(17.7%, 28.8x)</a:t>
            </a:r>
            <a:endParaRPr lang="en-US" sz="870" dirty="0"/>
          </a:p>
        </p:txBody>
      </p:sp>
      <p:sp>
        <p:nvSpPr>
          <p:cNvPr id="29" name="Text 26"/>
          <p:cNvSpPr txBox="1"/>
          <p:nvPr/>
        </p:nvSpPr>
        <p:spPr>
          <a:xfrm>
            <a:off x="672084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672084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company. Move right → it earns better returns on the capital it employs. Move up ↑ investors are paying a richer price for its earnings. The dashed lines mark round, easy benchmarks (20% ROCE, 35x P/E) so the four peers split cleanly into quadrants.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720840" y="310896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922008" y="32278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22008" y="3502152"/>
            <a:ext cx="4535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 Corp sits top-left — next to its own bigger sibling, Uno Minda. Both “Minda-family” stocks are priced above 35x while earning below-20% ROCE. Fiem Industries, on the other hand, is the only name that is both cheap AND highly efficient — the clear “value zone” pick of this peer set.</a:t>
            </a:r>
            <a:endParaRPr lang="en-US" sz="1080" dirty="0"/>
          </a:p>
        </p:txBody>
      </p:sp>
      <p:sp>
        <p:nvSpPr>
          <p:cNvPr id="34" name="Text 31"/>
          <p:cNvSpPr txBox="1"/>
          <p:nvPr/>
        </p:nvSpPr>
        <p:spPr>
          <a:xfrm>
            <a:off x="6720840" y="5074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doesn't automatically make Minda Corp a Sell — growth and industry tailwinds can justify a premium. But it does mean the burden of proof is on Minda Corp's execution, not on the market discovering it. More on the final call, next.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(20% ROCE, 35x P/E) are illustrative round-number reference lines chosen to separate this specific 4-company set, not universal industry cut-offs. Source: Screener.in, 4 Sep 2026.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0B3C6"/>
          </a:solidFill>
          <a:ln/>
        </p:spPr>
      </p:sp>
      <p:pic>
        <p:nvPicPr>
          <p:cNvPr id="3" name="Image 0" descr="/home/claude/minda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Investment Call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industry story, the numbers and the valuation matrix together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2121408" cy="594360"/>
          </a:xfrm>
          <a:prstGeom prst="rect">
            <a:avLst/>
          </a:prstGeom>
          <a:solidFill>
            <a:srgbClr val="8E3A2A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98648" y="1783080"/>
            <a:ext cx="2121408" cy="594360"/>
          </a:xfrm>
          <a:prstGeom prst="rect">
            <a:avLst/>
          </a:prstGeom>
          <a:solidFill>
            <a:srgbClr val="B0532E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98648" y="178308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0056" y="1783080"/>
            <a:ext cx="2121408" cy="594360"/>
          </a:xfrm>
          <a:prstGeom prst="rect">
            <a:avLst/>
          </a:prstGeom>
          <a:solidFill>
            <a:srgbClr val="00B3C6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0056" y="178308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41464" y="1783080"/>
            <a:ext cx="2121408" cy="594360"/>
          </a:xfrm>
          <a:prstGeom prst="rect">
            <a:avLst/>
          </a:prstGeom>
          <a:solidFill>
            <a:srgbClr val="1E7A52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41464" y="178308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62872" y="1783080"/>
            <a:ext cx="2121408" cy="594360"/>
          </a:xfrm>
          <a:prstGeom prst="rect">
            <a:avLst/>
          </a:prstGeom>
          <a:solidFill>
            <a:srgbClr val="155C40"/>
          </a:solidFill>
          <a:ln w="25400">
            <a:solidFill>
              <a:srgbClr val="0F1F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62872" y="178308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5661599" y="1490472"/>
            <a:ext cx="329184" cy="27432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03231" y="1188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2606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/ Accumulate on Dips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77240" y="3337560"/>
            <a:ext cx="3413760" cy="2514600"/>
          </a:xfrm>
          <a:prstGeom prst="roundRect">
            <a:avLst>
              <a:gd name="adj" fmla="val 2909"/>
            </a:avLst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9711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79576" y="3465576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CLEAN BUY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78408" y="3913632"/>
            <a:ext cx="3011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41.7x P/E / 6.4x book, the good news (27% revenue growth, GST tailwind, EV order book) is already in the price. ROCE (12.7%) is the weakest of the peer set — valuation isn't backed by best-in-class capital efficiency.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4373880" y="3337560"/>
            <a:ext cx="3413760" cy="2514600"/>
          </a:xfrm>
          <a:prstGeom prst="roundRect">
            <a:avLst>
              <a:gd name="adj" fmla="val 2909"/>
            </a:avLst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5676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7A5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776216" y="3465576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SELL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575048" y="3913632"/>
            <a:ext cx="3011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revenue +27%, profit +57%, a &gt;₹11,000 Cr EV order book, GST-led 2W demand, and Vision 2030's export/premiumisation push are genuine, durable growth drivers — not hype.</a:t>
            </a:r>
            <a:endParaRPr lang="en-US" sz="1030" dirty="0"/>
          </a:p>
        </p:txBody>
      </p:sp>
      <p:sp>
        <p:nvSpPr>
          <p:cNvPr id="27" name="Shape 24"/>
          <p:cNvSpPr/>
          <p:nvPr/>
        </p:nvSpPr>
        <p:spPr>
          <a:xfrm>
            <a:off x="7970520" y="3337560"/>
            <a:ext cx="3413760" cy="2514600"/>
          </a:xfrm>
          <a:prstGeom prst="roundRect">
            <a:avLst>
              <a:gd name="adj" fmla="val 2909"/>
            </a:avLst>
          </a:prstGeom>
          <a:solidFill>
            <a:srgbClr val="16294F"/>
          </a:solidFill>
          <a:ln w="12700">
            <a:solidFill>
              <a:srgbClr val="2232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53400" y="3520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B3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372856" y="3465576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MY MIND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171688" y="3913632"/>
            <a:ext cx="3011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pullback toward ~30-33x P/E (peer-consistent territory), or evidence that the Flash Electronics / EV capex is lifting ROCE back above 15-16%, would upgrade this to a BUY.</a:t>
            </a:r>
            <a:endParaRPr lang="en-US" sz="103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business is doing everything right operationally; the stock just isn't cheap for what it currently earns. Existing holders can stay in for the multi-year thesis — new capital is better deployed on weakness.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9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basis: relative valuation only (bonus DCF not built for this submission, per assignment's optional scope)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to the Investment Thesis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each risk by how likely it is and how much it would hurt if it happened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1691640" cy="1371600"/>
          </a:xfrm>
          <a:prstGeom prst="rect">
            <a:avLst/>
          </a:prstGeom>
          <a:solidFill>
            <a:srgbClr val="FBEA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31720" y="4434840"/>
            <a:ext cx="1691640" cy="1371600"/>
          </a:xfrm>
          <a:prstGeom prst="rect">
            <a:avLst/>
          </a:prstGeom>
          <a:solidFill>
            <a:srgbClr val="F7D9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0" y="4434840"/>
            <a:ext cx="1691640" cy="1371600"/>
          </a:xfrm>
          <a:prstGeom prst="rect">
            <a:avLst/>
          </a:prstGeom>
          <a:solidFill>
            <a:srgbClr val="F3C2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063240"/>
            <a:ext cx="1691640" cy="1371600"/>
          </a:xfrm>
          <a:prstGeom prst="rect">
            <a:avLst/>
          </a:prstGeom>
          <a:solidFill>
            <a:srgbClr val="F7D9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31720" y="3063240"/>
            <a:ext cx="1691640" cy="1371600"/>
          </a:xfrm>
          <a:prstGeom prst="rect">
            <a:avLst/>
          </a:prstGeom>
          <a:solidFill>
            <a:srgbClr val="F3C2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0" y="3063240"/>
            <a:ext cx="1691640" cy="1371600"/>
          </a:xfrm>
          <a:prstGeom prst="rect">
            <a:avLst/>
          </a:prstGeom>
          <a:solidFill>
            <a:srgbClr val="EAA9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691640"/>
            <a:ext cx="1691640" cy="1371600"/>
          </a:xfrm>
          <a:prstGeom prst="rect">
            <a:avLst/>
          </a:prstGeom>
          <a:solidFill>
            <a:srgbClr val="F3C2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31720" y="1691640"/>
            <a:ext cx="1691640" cy="1371600"/>
          </a:xfrm>
          <a:prstGeom prst="rect">
            <a:avLst/>
          </a:prstGeom>
          <a:solidFill>
            <a:srgbClr val="EAA9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1691640"/>
            <a:ext cx="1691640" cy="1371600"/>
          </a:xfrm>
          <a:prstGeom prst="rect">
            <a:avLst/>
          </a:prstGeom>
          <a:solidFill>
            <a:srgbClr val="DD82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1691640"/>
            <a:ext cx="5074920" cy="4114800"/>
          </a:xfrm>
          <a:prstGeom prst="rect">
            <a:avLst/>
          </a:prstGeom>
          <a:ln w="15875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58613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 →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1362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990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60990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60990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91440" y="50109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91440" y="36393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91440" y="22677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68012" y="2176272"/>
            <a:ext cx="402336" cy="40233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680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47972" y="3639312"/>
            <a:ext cx="402336" cy="40233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4797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88052" y="3456432"/>
            <a:ext cx="402336" cy="40233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8805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067812" y="2176272"/>
            <a:ext cx="402336" cy="40233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0678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02052" y="3410712"/>
            <a:ext cx="402336" cy="40233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702052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250692" y="3776472"/>
            <a:ext cx="402336" cy="402336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50692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1673352"/>
            <a:ext cx="274320" cy="2743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17220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74536" y="1627632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Wheeler Concentration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574536" y="1865376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revenue tied to 2-3W volumes — cyclical to rural demand &amp; any GST reversal.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72200" y="2423160"/>
            <a:ext cx="274320" cy="2743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172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574536" y="2377440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Leverage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6574536" y="261518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Borrowings almost tripled (₹540 Cr→₹1,600+ Cr) for Flash Electronics &amp; EV capex.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3172968"/>
            <a:ext cx="274320" cy="2743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17220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574536" y="3127248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 Capital Efficiency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574536" y="336499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(14.7%) &amp; ROCE (12.7%) trail every peer — a fragile combination with a premium multiple.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72200" y="3922776"/>
            <a:ext cx="274320" cy="2743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17220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6574536" y="387705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Execution Risk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574536" y="411480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needs ~3.5x FY25 revenue; e-2W growth already decelerated post GST cut.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72200" y="4672584"/>
            <a:ext cx="274320" cy="2743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172200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574536" y="4626864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 Volatility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6574536" y="486460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~75% of expenses; ACMA flags rare-earth magnet shortages industry-wide.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172200" y="5422392"/>
            <a:ext cx="274320" cy="2743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6172200" y="5422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6574536" y="5376672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&amp; Trade Pressure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6574536" y="5614416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majors + a much larger Uno Minda compete for OEM share; US Section 301 export risk.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Likelihood/impact placements are analyst judgement calls, not statistical estimates. Source: Screener.in balance-sheet data; company concall transcripts (Q1 FY27); ACMA FY26 review.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Supporting Detail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97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SEGMENT GROWTH — Q1 FY27 (YoY)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263640" y="1097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R&amp;D SPEND (% of Revenue, Standalone)</a:t>
            </a:r>
            <a:endParaRPr lang="en-US" sz="11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417320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292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FLASH ELECTRONICS (49% STAKE) — FY26 SNAPSHOT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50292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0292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₹1,803 Cr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0292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187452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87452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₹310 Cr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87452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24612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24612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₹137 Cr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24612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1772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61772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Revenue Mix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Electronics designs BMS &amp; EV-charging systems; equity income from this 49%-owned associate is not consolidated line-by-line into Minda Corp's revenue.</a:t>
            </a:r>
            <a:endParaRPr lang="en-US" sz="93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SHAREHOLDING PATTERN (Jun 2026)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6364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6364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64.8%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26364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63524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63524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17.9%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763524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00684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900684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9.3%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0378440" y="411480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037844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10378440" y="4553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Others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263640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holding has been stable at ~64.8% for 3+ years with no pledging reported — supportive of alignment, though float is modest.</a:t>
            </a:r>
            <a:endParaRPr lang="en-US" sz="93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DCF valuation was optional per the assignment brief and has not been built for this submission; all conclusions rest on the relative valuation above.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02920" y="65379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Q1 FY27 investor presentation &amp; concall (Aug 2026); Screener.in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F1F3D"/>
          </a:solidFill>
          <a:ln/>
        </p:spPr>
      </p:sp>
      <p:pic>
        <p:nvPicPr>
          <p:cNvPr id="3" name="Image 0" descr="/home/claude/minda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74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2743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371600"/>
            <a:ext cx="11155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 — Minda Corporation Ltd, consolidated financials, ratios &amp; peer data. screener.in/company/MINDACORP/consolidated/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 — Uno Minda Ltd, consolidated financials &amp; ratios. screener.in/company/UNOMINDA/consolidated/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 — Fiem Industries Ltd, consolidated financials &amp; ratios. screener.in/company/FIEMIND/consolidated/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 — Lumax Industries Ltd, consolidated financials &amp; ratios. screener.in/company/LUMAXIND/consolidated/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 Corporation Ltd — Annual Report FY2024-25; Q1 FY27 investor presentation &amp; earnings-call transcript (Aug 2026); BSE corporate filings.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Component Manufacturers Association of India (ACMA) — FY26 Industry Performance Review (Jul 2026).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Standard — “Minda Corp Q4 result” and “2-wheeler industry eyes 6-9% growth in 2026” (2026).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Autocar Professional — “Two-Wheeler Sales to Surpass Pre-Covid Level” and “EV sales in India surpass 2.45 million units in FY2026” (2026).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— “Two-Wheeler Peak In FY26; Scooters, Premium Motorcycle Push Drive Demand” (Jan 2026).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IBEF — Indian Auto Components Industry Analysis; Motorindia — McKinsey report for ACMA on industry outlook to 2030.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Deccan Herald — ACMA-BCG report on auto-component export targets (Mar 2025).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 / Multibagg.ai — Minda Corporation Q1 FY26 &amp; Q1 FY27 earnings-call transcript summaries (2026).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1629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629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514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 Corporation Ltd (MINDACORP)  —  Recommendation: HOLD / Accumulate on Dips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numbers, the peer choices, or the valuation matrix in more depth.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Submission  |  Investment Advisory Practice  |  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2026-09-07T06:33:02Z</dcterms:created>
  <dcterms:modified xsi:type="dcterms:W3CDTF">2026-09-07T06:33:02Z</dcterms:modified>
</cp:coreProperties>
</file>